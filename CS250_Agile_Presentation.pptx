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4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7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5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40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3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0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56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9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8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9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90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05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software/jira" TargetMode="External"/><Relationship Id="rId2" Type="http://schemas.openxmlformats.org/officeDocument/2006/relationships/hyperlink" Target="https://www.atlassian.com/agile/project-management/user-storie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atlassian.com/agile/project-management" TargetMode="External"/><Relationship Id="rId4" Type="http://schemas.openxmlformats.org/officeDocument/2006/relationships/hyperlink" Target="https://resources.scrumalliance.org/article/sprint-retrospect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87DA7-FC17-40D0-F29E-F82CDA291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ChadaTech Scrum-Agile Transition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9E29E-83C5-8CFF-857F-D11355B02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13247" y="2256287"/>
            <a:ext cx="4907965" cy="333040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3D73D07-1B33-1450-9303-F9C3C5F5A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Lessons Learned from the SNHU Travel Project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Dan Berry</a:t>
            </a:r>
          </a:p>
          <a:p>
            <a:pPr>
              <a:lnSpc>
                <a:spcPct val="120000"/>
              </a:lnSpc>
            </a:pPr>
            <a:r>
              <a:rPr lang="en-US" dirty="0"/>
              <a:t>CS 250 Software Development Lifecycle</a:t>
            </a:r>
          </a:p>
          <a:p>
            <a:pPr>
              <a:lnSpc>
                <a:spcPct val="120000"/>
              </a:lnSpc>
            </a:pPr>
            <a:r>
              <a:rPr lang="en-US" dirty="0"/>
              <a:t>Professor Iles</a:t>
            </a:r>
          </a:p>
          <a:p>
            <a:pPr>
              <a:lnSpc>
                <a:spcPct val="120000"/>
              </a:lnSpc>
            </a:pPr>
            <a:r>
              <a:rPr lang="en-US"/>
              <a:t>June 20, </a:t>
            </a:r>
            <a:r>
              <a:rPr lang="en-US" dirty="0"/>
              <a:t>2026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3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4C07-C60C-1172-A905-CD2F280F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Scrum-Agile 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7F94B-7113-D9A8-AAC9-C6927528D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Product Owner – Prioritizes requirements and manages the product backlog.</a:t>
            </a:r>
          </a:p>
          <a:p>
            <a:r>
              <a:rPr lang="en-US" sz="1800" dirty="0"/>
              <a:t>Scrum Master – Facilitates communication and removes obstacles.</a:t>
            </a:r>
          </a:p>
          <a:p>
            <a:r>
              <a:rPr lang="en-US" sz="1800" dirty="0"/>
              <a:t>Developer – Implements features and delivers working functionality.</a:t>
            </a:r>
          </a:p>
          <a:p>
            <a:r>
              <a:rPr lang="en-US" sz="1800" dirty="0"/>
              <a:t>Tester – Verifies requirements and ensures software quality.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B4D07-1D49-3C99-5532-D955ECD08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49298" y="4679714"/>
            <a:ext cx="2133897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08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82F33-A6AC-F2D8-6925-D727A5C9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Phases of the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662DB-6F49-988C-8E91-746E273D5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61309"/>
            <a:ext cx="10890928" cy="4038323"/>
          </a:xfrm>
        </p:spPr>
        <p:txBody>
          <a:bodyPr>
            <a:normAutofit/>
          </a:bodyPr>
          <a:lstStyle/>
          <a:p>
            <a:r>
              <a:rPr lang="en-US" sz="1800" dirty="0"/>
              <a:t>Requirements – User stories are gathered and prioritized in the product backlog.</a:t>
            </a:r>
          </a:p>
          <a:p>
            <a:r>
              <a:rPr lang="en-US" sz="1800" dirty="0"/>
              <a:t>Sprint Planning – The team selects and estimates work for the sprint.</a:t>
            </a:r>
          </a:p>
          <a:p>
            <a:r>
              <a:rPr lang="en-US" sz="1800" dirty="0"/>
              <a:t>Development – Features are designed, coded, and integrated.</a:t>
            </a:r>
          </a:p>
          <a:p>
            <a:r>
              <a:rPr lang="en-US" sz="1800" dirty="0"/>
              <a:t>Testing – Functionality is verified throughout the sprint.</a:t>
            </a:r>
          </a:p>
          <a:p>
            <a:r>
              <a:rPr lang="en-US" sz="1800" dirty="0"/>
              <a:t>Sprint Review &amp; Retrospective – Completed work is reviewed and improvements are identified.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90AE42-3899-72A6-6DD0-5F89A15FF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49298" y="4679714"/>
            <a:ext cx="2133897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3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50CD-2C8F-798B-2270-D285CDF8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vs. Agile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98CF8-4F0E-0612-F869-374389D3B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468882"/>
            <a:ext cx="5212081" cy="2920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Waterfall</a:t>
            </a:r>
          </a:p>
          <a:p>
            <a:r>
              <a:rPr lang="en-US" sz="1800" dirty="0"/>
              <a:t>Sequential development process</a:t>
            </a:r>
          </a:p>
          <a:p>
            <a:r>
              <a:rPr lang="en-US" sz="1800" dirty="0"/>
              <a:t>Requirements defined at project start</a:t>
            </a:r>
          </a:p>
          <a:p>
            <a:r>
              <a:rPr lang="en-US" sz="1800" dirty="0"/>
              <a:t>Limited customer feedback during development</a:t>
            </a:r>
          </a:p>
          <a:p>
            <a:r>
              <a:rPr lang="en-US" sz="1800" dirty="0"/>
              <a:t>Changes can be costly and time-consuming</a:t>
            </a:r>
          </a:p>
          <a:p>
            <a:r>
              <a:rPr lang="en-US" sz="1800" dirty="0"/>
              <a:t>Testing occurs near project completion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165AB-6380-640A-5774-8FED431C0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7" y="2468882"/>
            <a:ext cx="5212081" cy="2920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Agile</a:t>
            </a:r>
          </a:p>
          <a:p>
            <a:r>
              <a:rPr lang="en-US" sz="1800" dirty="0"/>
              <a:t>Iterative development in sprints</a:t>
            </a:r>
          </a:p>
          <a:p>
            <a:r>
              <a:rPr lang="en-US" sz="1800" dirty="0"/>
              <a:t>Requirements can evolve throughout the project</a:t>
            </a:r>
          </a:p>
          <a:p>
            <a:r>
              <a:rPr lang="en-US" sz="1800" dirty="0"/>
              <a:t>Frequent stakeholder feedback</a:t>
            </a:r>
          </a:p>
          <a:p>
            <a:r>
              <a:rPr lang="en-US" sz="1800" dirty="0"/>
              <a:t>Adapts quickly to changing requirements</a:t>
            </a:r>
          </a:p>
          <a:p>
            <a:r>
              <a:rPr lang="en-US" sz="1800" dirty="0"/>
              <a:t>Testing occurs continuously during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7136F-CF2C-43DC-FBE4-DF9A06B1F258}"/>
              </a:ext>
            </a:extLst>
          </p:cNvPr>
          <p:cNvSpPr txBox="1"/>
          <p:nvPr/>
        </p:nvSpPr>
        <p:spPr>
          <a:xfrm>
            <a:off x="787940" y="5389124"/>
            <a:ext cx="10743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During the </a:t>
            </a:r>
            <a:r>
              <a:rPr lang="en-US" b="1" dirty="0"/>
              <a:t>SNHU Travel project</a:t>
            </a:r>
            <a:r>
              <a:rPr lang="en-US" dirty="0"/>
              <a:t>, the wellness-travel requirements were added after development began. </a:t>
            </a:r>
            <a:r>
              <a:rPr lang="en-US" b="1" dirty="0"/>
              <a:t>Agile</a:t>
            </a:r>
            <a:r>
              <a:rPr lang="en-US" dirty="0"/>
              <a:t> allowed these changes to be incorporated during development without disrupting ongoing development, while a </a:t>
            </a:r>
            <a:r>
              <a:rPr lang="en-US" b="1" dirty="0"/>
              <a:t>Waterfall</a:t>
            </a:r>
            <a:r>
              <a:rPr lang="en-US" dirty="0"/>
              <a:t> approach would have required revisiting earlier project phases and delaying implementation.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2D00F7-821B-97F6-F481-1BD85D42E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24967" y="897043"/>
            <a:ext cx="2133897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7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E989-936F-647C-D262-636CA079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Agile Was the Best Choice for the SNHU Travel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7C186-EBE7-F072-AF82-24A844011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22618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900" b="1" dirty="0"/>
              <a:t>Advantages</a:t>
            </a:r>
          </a:p>
          <a:p>
            <a:r>
              <a:rPr lang="en-US" sz="1900" dirty="0"/>
              <a:t>Adapted quickly to changing requirements</a:t>
            </a:r>
          </a:p>
          <a:p>
            <a:r>
              <a:rPr lang="en-US" sz="1900" dirty="0"/>
              <a:t>Encouraged stakeholder feedback</a:t>
            </a:r>
          </a:p>
          <a:p>
            <a:r>
              <a:rPr lang="en-US" sz="1900" dirty="0"/>
              <a:t>Supported continuous testing and improvement</a:t>
            </a:r>
          </a:p>
          <a:p>
            <a:r>
              <a:rPr lang="en-US" sz="1900" dirty="0"/>
              <a:t>Delivered value incrementally</a:t>
            </a: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71424-BD06-D6A6-F6A4-852DBFE0D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22618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900" b="1" dirty="0"/>
              <a:t>Challenges</a:t>
            </a:r>
          </a:p>
          <a:p>
            <a:r>
              <a:rPr lang="en-US" sz="1900" dirty="0"/>
              <a:t>Required ongoing communication</a:t>
            </a:r>
          </a:p>
          <a:p>
            <a:r>
              <a:rPr lang="en-US" sz="1900" dirty="0"/>
              <a:t>Needed active stakeholder participation</a:t>
            </a:r>
          </a:p>
          <a:p>
            <a:r>
              <a:rPr lang="en-US" sz="1900" dirty="0"/>
              <a:t>Frequent backlog reprioritization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699C9-AE2D-3329-320E-42F96FC9C70F}"/>
              </a:ext>
            </a:extLst>
          </p:cNvPr>
          <p:cNvSpPr txBox="1"/>
          <p:nvPr/>
        </p:nvSpPr>
        <p:spPr>
          <a:xfrm>
            <a:off x="766619" y="5153891"/>
            <a:ext cx="7980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Agile was the best choice because requirements changed during development and customer feedback was incorporated throughout the project.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0F125A-E6CC-DF4A-8665-7180B519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24968" y="4629219"/>
            <a:ext cx="2133897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1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E505-940B-A76A-5BBF-B1EE0D9B1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1214583"/>
          </a:xfrm>
        </p:spPr>
        <p:txBody>
          <a:bodyPr>
            <a:normAutofit/>
          </a:bodyPr>
          <a:lstStyle/>
          <a:p>
            <a:r>
              <a:rPr lang="en-US" sz="3600" dirty="0"/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D36DF-C021-B81E-553F-B27720696668}"/>
              </a:ext>
            </a:extLst>
          </p:cNvPr>
          <p:cNvSpPr txBox="1"/>
          <p:nvPr/>
        </p:nvSpPr>
        <p:spPr>
          <a:xfrm>
            <a:off x="1002145" y="2937900"/>
            <a:ext cx="101877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Atlassian (2024). Agile User Stories.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https://www.atlassian.com/agile/project-management/user-stories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b="1" dirty="0"/>
              <a:t>Atlassian (2024). What Is Jira?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https://www.atlassian.com/software/jira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b="1" dirty="0"/>
              <a:t>Scrum Alliance (2023). What Is a Sprint Retrospective?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https://resources.scrumalliance.org/article/sprint-retrospective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b="1" dirty="0"/>
              <a:t>Atlassian (2024). What Is Agile Project Management?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https://www.atlassian.com/agile/project-management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EA0C36-1953-6FFB-B211-BAD3327FA5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924968" y="4629219"/>
            <a:ext cx="2133897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141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375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ChadaTech Scrum-Agile Transition Review</vt:lpstr>
      <vt:lpstr>Scrum-Agile Team Roles</vt:lpstr>
      <vt:lpstr>Agile Phases of the SDLC</vt:lpstr>
      <vt:lpstr>Waterfall vs. Agile Development</vt:lpstr>
      <vt:lpstr>Why Agile Was the Best Choice for the SNHU Travel Project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Berry</dc:creator>
  <cp:lastModifiedBy>Dan Berry</cp:lastModifiedBy>
  <cp:revision>2</cp:revision>
  <dcterms:created xsi:type="dcterms:W3CDTF">2026-06-15T19:43:12Z</dcterms:created>
  <dcterms:modified xsi:type="dcterms:W3CDTF">2026-06-22T14:12:21Z</dcterms:modified>
</cp:coreProperties>
</file>